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93" autoAdjust="0"/>
  </p:normalViewPr>
  <p:slideViewPr>
    <p:cSldViewPr>
      <p:cViewPr varScale="1">
        <p:scale>
          <a:sx n="105" d="100"/>
          <a:sy n="10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11E96-A5CB-4332-BBAB-4A1C27235CEE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9DA29-E55D-41B1-8F79-CD08AE5A6B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76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dirty="0" smtClean="0"/>
              <a:t>Бумажная:</a:t>
            </a:r>
          </a:p>
          <a:p>
            <a:r>
              <a:rPr lang="ru-RU" sz="1050" dirty="0" smtClean="0"/>
              <a:t>Как вы знаете, для</a:t>
            </a:r>
            <a:r>
              <a:rPr lang="ru-RU" sz="1050" baseline="0" dirty="0" smtClean="0"/>
              <a:t> соответствия всевозможным законам, постановлениям, приказам и т.п. необходимо разработать огромное кол-во бумажек: инструкций, приказов, правил, регламентов, политик и т.п. Те, кто делает это для соответствия всевозможным требованиям, зачастую, разрабатывают их и никогда не применяют. Для небольших организаций, на мой взгляд, это и не требуется. Коллектив всегда на виду, команда ИБ – это один специалист, либо два и подчиняются они непосредственно руководителю организации. В большой организации </a:t>
            </a:r>
            <a:r>
              <a:rPr lang="ru-RU" sz="1050" baseline="0" dirty="0" err="1" smtClean="0"/>
              <a:t>Ибешник</a:t>
            </a:r>
            <a:r>
              <a:rPr lang="ru-RU" sz="1050" baseline="0" dirty="0" smtClean="0"/>
              <a:t> подчиняется либо </a:t>
            </a:r>
            <a:r>
              <a:rPr lang="ru-RU" sz="1050" baseline="0" dirty="0" smtClean="0"/>
              <a:t>ИТ-блоку</a:t>
            </a:r>
            <a:r>
              <a:rPr lang="ru-RU" sz="1050" baseline="0" dirty="0" smtClean="0"/>
              <a:t>, либо блоку безопасности. И, </a:t>
            </a:r>
            <a:r>
              <a:rPr lang="ru-RU" sz="1050" baseline="0" dirty="0" smtClean="0"/>
              <a:t>конечно, </a:t>
            </a:r>
            <a:r>
              <a:rPr lang="ru-RU" sz="1050" baseline="0" dirty="0" err="1" smtClean="0"/>
              <a:t>ттешники</a:t>
            </a:r>
            <a:r>
              <a:rPr lang="ru-RU" sz="1050" baseline="0" dirty="0" smtClean="0"/>
              <a:t> </a:t>
            </a:r>
            <a:r>
              <a:rPr lang="ru-RU" sz="1050" baseline="0" dirty="0" smtClean="0"/>
              <a:t>не любят, когда им кто-то указывает и ограничивает их в работе. Также и </a:t>
            </a:r>
            <a:r>
              <a:rPr lang="ru-RU" sz="1050" baseline="0" dirty="0" err="1" smtClean="0"/>
              <a:t>безопаснсники</a:t>
            </a:r>
            <a:r>
              <a:rPr lang="ru-RU" sz="1050" baseline="0" dirty="0" smtClean="0"/>
              <a:t>, практически всегда, мало разбираются в ИБ. Отношения, в большинстве своём, между ИБ и ИТ и безопасностью будут натянутыми. Возможны даже небольшие диверсии с той или иной </a:t>
            </a:r>
            <a:r>
              <a:rPr lang="ru-RU" sz="1050" baseline="0" dirty="0" smtClean="0"/>
              <a:t>стороны, чтобы </a:t>
            </a:r>
            <a:r>
              <a:rPr lang="ru-RU" sz="1050" baseline="0" dirty="0" smtClean="0"/>
              <a:t>подмочить репутацию в глазах руководства для другой стороны. Поэтому правильно написанные регламенты, подписанные руководителем/замом организации, помогают воздействовать на сотрудников для нивелирования различных рисков ИБ. К тому </a:t>
            </a:r>
            <a:r>
              <a:rPr lang="ru-RU" sz="1050" baseline="0" dirty="0" smtClean="0"/>
              <a:t>же, </a:t>
            </a:r>
            <a:r>
              <a:rPr lang="ru-RU" sz="1050" baseline="0" dirty="0" smtClean="0"/>
              <a:t>правильно написанные модели угроз и нарушителя помогут выявить те места. На которых необходимо более пристально посмотреть. Но это только в том случае, если эти документы будут действительно хорошо и грамотно составлены. </a:t>
            </a:r>
          </a:p>
          <a:p>
            <a:r>
              <a:rPr lang="ru-RU" sz="1050" dirty="0" smtClean="0"/>
              <a:t>Для галочки: здесь всё просто. Для соответствия различным требованиям устанавливаются различные</a:t>
            </a:r>
            <a:r>
              <a:rPr lang="ru-RU" sz="1050" baseline="0" dirty="0" smtClean="0"/>
              <a:t> средства защиты и таким образом закрываются требования по соответствию.  А установленные </a:t>
            </a:r>
            <a:r>
              <a:rPr lang="ru-RU" sz="1050" baseline="0" dirty="0" smtClean="0"/>
              <a:t>СЗИ </a:t>
            </a:r>
            <a:r>
              <a:rPr lang="ru-RU" sz="1050" baseline="0" dirty="0" smtClean="0"/>
              <a:t>не настраиваются, либо отключаются вовсе, когда будет пройдена процедура </a:t>
            </a:r>
            <a:r>
              <a:rPr lang="ru-RU" sz="1050" baseline="0" dirty="0" smtClean="0"/>
              <a:t>соответствия  </a:t>
            </a:r>
            <a:r>
              <a:rPr lang="ru-RU" sz="1050" baseline="0" dirty="0" smtClean="0"/>
              <a:t>(так как мешают работать пользователям) и ждут своего часа до следующей процедуры. Толку от такой безопасности нет никакого. </a:t>
            </a:r>
          </a:p>
          <a:p>
            <a:r>
              <a:rPr lang="ru-RU" sz="1050" baseline="0" dirty="0" smtClean="0"/>
              <a:t>Реальная: название говорит само за себя. Такая безопасность помогает защититься от реальных атак как со стороны внутреннего нарушителя. Так и со стороны внешнего. </a:t>
            </a:r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962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Возможно написал и не все составляющие,</a:t>
            </a:r>
            <a:r>
              <a:rPr lang="ru-RU" baseline="0" dirty="0" smtClean="0"/>
              <a:t> но отразил наиболее полный список. </a:t>
            </a:r>
          </a:p>
          <a:p>
            <a:r>
              <a:rPr lang="ru-RU" baseline="0" dirty="0" smtClean="0"/>
              <a:t>А теперь подробнее о каждом пункте, что из себя представляет, почему это важно и какие особенности существуют.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379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 smtClean="0"/>
              <a:t>Какие есть МЭ я рассказывать не буду. И то, что их нужно ставить и разделять ими различные сегменты тоже.  В больших компаниях много сегментов, которые необходимо отделять друг от друга: </a:t>
            </a:r>
            <a:r>
              <a:rPr lang="en-US" baseline="0" dirty="0" smtClean="0"/>
              <a:t>DMZ</a:t>
            </a:r>
            <a:r>
              <a:rPr lang="ru-RU" baseline="0" dirty="0" smtClean="0"/>
              <a:t>, серверный сегмент, </a:t>
            </a:r>
            <a:r>
              <a:rPr lang="ru-RU" baseline="0" dirty="0" smtClean="0"/>
              <a:t>пользовательский </a:t>
            </a:r>
            <a:r>
              <a:rPr lang="ru-RU" baseline="0" dirty="0" smtClean="0"/>
              <a:t>сегмент, выделенный (защищённый сегмент – возможно АСУ ТП, либо любой другой сегмент).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 smtClean="0"/>
              <a:t>Лучше, чтобы при разделение на сегменты трафик ходил не через один и тот же МЭ, а через разные – это и повышает безопасность. А также облегчает администрирование: Для каждого сегмента необходимо прописывать свои </a:t>
            </a:r>
            <a:r>
              <a:rPr lang="en-US" baseline="0" dirty="0" smtClean="0"/>
              <a:t>ACL</a:t>
            </a:r>
            <a:r>
              <a:rPr lang="ru-RU" baseline="0" dirty="0" smtClean="0"/>
              <a:t> и это огромное кол-во записей. Также необходимо </a:t>
            </a:r>
            <a:r>
              <a:rPr lang="ru-RU" baseline="0" dirty="0" err="1" smtClean="0"/>
              <a:t>кластеризовать</a:t>
            </a:r>
            <a:r>
              <a:rPr lang="ru-RU" baseline="0" dirty="0" smtClean="0"/>
              <a:t> МЭ, в случае выхода из строя одного – работа не будет прервана.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 smtClean="0"/>
              <a:t>Также, если у компании есть филиалы и они объединены в одну подсеть, то необходимо разделять межфилиальное взаимодействие и прописывать только необходимые доступы., т.к. при взломе одного филиала попасть на ресурсы другого, без межфилиального взаимодействия, будет просто.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 smtClean="0"/>
              <a:t>Отнесу к межсетевому экранированию и прокси-сервер. Рассказывать о нём не имеет смысла. Скажу только. Что очень важно производить своевременную блокировку на прокси </a:t>
            </a:r>
            <a:r>
              <a:rPr lang="ru-RU" baseline="0" dirty="0" err="1" smtClean="0"/>
              <a:t>фишинговых</a:t>
            </a:r>
            <a:r>
              <a:rPr lang="ru-RU" baseline="0" dirty="0" smtClean="0"/>
              <a:t> и опасных сайтов, а также различных категорий развлекательных и других сайтов.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 smtClean="0"/>
              <a:t>Сюда бы я ещё добавил защиту </a:t>
            </a:r>
            <a:r>
              <a:rPr lang="en-US" baseline="0" dirty="0" err="1" smtClean="0"/>
              <a:t>Wi-fi</a:t>
            </a:r>
            <a:r>
              <a:rPr lang="ru-RU" baseline="0" dirty="0" smtClean="0"/>
              <a:t>. Это обязательно изолирование гостевой сети от корпоративной.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759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Позволяет</a:t>
            </a:r>
            <a:r>
              <a:rPr lang="ru-RU" baseline="0" dirty="0" smtClean="0"/>
              <a:t> отслеживать сетевые атаки как из сети интернет, так и внутри сети, исследуя копию трафика с коммутаторов/маршрутизаторов.</a:t>
            </a:r>
          </a:p>
          <a:p>
            <a:r>
              <a:rPr lang="ru-RU" baseline="0" dirty="0" smtClean="0"/>
              <a:t>Практически Все </a:t>
            </a:r>
            <a:r>
              <a:rPr lang="en-US" baseline="0" dirty="0" smtClean="0"/>
              <a:t>IDS</a:t>
            </a:r>
            <a:r>
              <a:rPr lang="ru-RU" baseline="0" dirty="0" smtClean="0"/>
              <a:t> созданы на основе СПО </a:t>
            </a:r>
            <a:r>
              <a:rPr lang="en-US" baseline="0" dirty="0" smtClean="0"/>
              <a:t>snort</a:t>
            </a:r>
            <a:r>
              <a:rPr lang="ru-RU" baseline="0" dirty="0" smtClean="0"/>
              <a:t>.  Устанавливать </a:t>
            </a:r>
            <a:r>
              <a:rPr lang="en-US" baseline="0" dirty="0" smtClean="0"/>
              <a:t>IDS </a:t>
            </a:r>
            <a:r>
              <a:rPr lang="ru-RU" baseline="0" dirty="0" smtClean="0"/>
              <a:t>необходимо так, чтобы получать копию всего трафика. </a:t>
            </a:r>
          </a:p>
          <a:p>
            <a:r>
              <a:rPr lang="ru-RU" baseline="0" dirty="0" smtClean="0"/>
              <a:t>С недавнего времени существуют </a:t>
            </a:r>
            <a:r>
              <a:rPr lang="en-US" baseline="0" dirty="0" smtClean="0"/>
              <a:t>IDS </a:t>
            </a:r>
            <a:r>
              <a:rPr lang="ru-RU" baseline="0" dirty="0" smtClean="0"/>
              <a:t>для АСУ ТП. Отличие таких </a:t>
            </a:r>
            <a:r>
              <a:rPr lang="en-US" baseline="0" dirty="0" smtClean="0"/>
              <a:t>IDS </a:t>
            </a:r>
            <a:r>
              <a:rPr lang="ru-RU" baseline="0" dirty="0" smtClean="0"/>
              <a:t>от обычных – то, что они могут разбирать промышленные протоколы, которые обычные </a:t>
            </a:r>
            <a:r>
              <a:rPr lang="en-US" baseline="0" dirty="0" smtClean="0"/>
              <a:t>IDS </a:t>
            </a:r>
            <a:r>
              <a:rPr lang="ru-RU" baseline="0" dirty="0" smtClean="0"/>
              <a:t>не видят. </a:t>
            </a:r>
          </a:p>
          <a:p>
            <a:r>
              <a:rPr lang="ru-RU" baseline="0" dirty="0" smtClean="0"/>
              <a:t>Ещё одной разновидностью являются </a:t>
            </a:r>
            <a:r>
              <a:rPr lang="en-US" baseline="0" dirty="0" smtClean="0"/>
              <a:t>IPS</a:t>
            </a:r>
            <a:r>
              <a:rPr lang="ru-RU" baseline="0" dirty="0" smtClean="0"/>
              <a:t> – такие </a:t>
            </a:r>
            <a:r>
              <a:rPr lang="en-US" baseline="0" dirty="0" smtClean="0"/>
              <a:t>IDS</a:t>
            </a:r>
            <a:r>
              <a:rPr lang="ru-RU" baseline="0" dirty="0" smtClean="0"/>
              <a:t>, но в случае атаки могут разрывать соединения. Минусом </a:t>
            </a:r>
            <a:r>
              <a:rPr lang="en-US" baseline="0" dirty="0" smtClean="0"/>
              <a:t>IPS </a:t>
            </a:r>
            <a:r>
              <a:rPr lang="ru-RU" baseline="0" dirty="0" smtClean="0"/>
              <a:t>является то, что они ставятся в разрыв, т.е. если </a:t>
            </a:r>
            <a:r>
              <a:rPr lang="en-US" baseline="0" dirty="0" smtClean="0"/>
              <a:t>IDS </a:t>
            </a:r>
            <a:r>
              <a:rPr lang="ru-RU" baseline="0" dirty="0" smtClean="0"/>
              <a:t>получает копию трафика со </a:t>
            </a:r>
            <a:r>
              <a:rPr lang="en-US" baseline="0" dirty="0" smtClean="0"/>
              <a:t>span</a:t>
            </a:r>
            <a:r>
              <a:rPr lang="ru-RU" baseline="0" dirty="0" smtClean="0"/>
              <a:t>-порта </a:t>
            </a:r>
            <a:r>
              <a:rPr lang="ru-RU" baseline="0" dirty="0" smtClean="0"/>
              <a:t>коммутатора/маршрутизатора </a:t>
            </a:r>
            <a:r>
              <a:rPr lang="ru-RU" baseline="0" dirty="0" smtClean="0"/>
              <a:t>и никак не влияет на пропускную способность каналов связи. С </a:t>
            </a:r>
            <a:r>
              <a:rPr lang="en-US" baseline="0" dirty="0" smtClean="0"/>
              <a:t>IPS </a:t>
            </a:r>
            <a:r>
              <a:rPr lang="ru-RU" baseline="0" dirty="0" smtClean="0"/>
              <a:t>– трафик идёт через него и скорость ограниченна пропускной способностью самого </a:t>
            </a:r>
            <a:r>
              <a:rPr lang="en-US" baseline="0" dirty="0" smtClean="0"/>
              <a:t>IPS</a:t>
            </a:r>
            <a:r>
              <a:rPr lang="ru-RU" baseline="0" dirty="0" smtClean="0"/>
              <a:t>. + должна быть хорошая настройка </a:t>
            </a:r>
            <a:r>
              <a:rPr lang="en-US" baseline="0" dirty="0" smtClean="0"/>
              <a:t>IPS</a:t>
            </a:r>
            <a:r>
              <a:rPr lang="ru-RU" baseline="0" dirty="0" smtClean="0"/>
              <a:t>. Т.к. зачастую </a:t>
            </a:r>
            <a:r>
              <a:rPr lang="ru-RU" baseline="0" dirty="0" err="1" smtClean="0"/>
              <a:t>сработки</a:t>
            </a:r>
            <a:r>
              <a:rPr lang="ru-RU" baseline="0" dirty="0" smtClean="0"/>
              <a:t> происходят ложные и под них </a:t>
            </a:r>
            <a:r>
              <a:rPr lang="ru-RU" baseline="0" dirty="0" smtClean="0"/>
              <a:t>необходимо </a:t>
            </a:r>
            <a:r>
              <a:rPr lang="ru-RU" baseline="0" dirty="0" smtClean="0"/>
              <a:t>писать правила. </a:t>
            </a:r>
          </a:p>
          <a:p>
            <a:r>
              <a:rPr lang="ru-RU" baseline="0" dirty="0" smtClean="0"/>
              <a:t>Также про </a:t>
            </a:r>
            <a:r>
              <a:rPr lang="en-US" baseline="0" dirty="0" smtClean="0"/>
              <a:t>IDS </a:t>
            </a:r>
            <a:r>
              <a:rPr lang="ru-RU" baseline="0" dirty="0" smtClean="0"/>
              <a:t>необходимо писать собственные сигнатуры, т.к. сигнатур из коробки не достаточно для отслеживания всех видов и разновидностей атак.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816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Бывают разные. </a:t>
            </a:r>
          </a:p>
          <a:p>
            <a:r>
              <a:rPr lang="ru-RU" dirty="0" err="1" smtClean="0"/>
              <a:t>Хостовый</a:t>
            </a:r>
            <a:r>
              <a:rPr lang="ru-RU" dirty="0" smtClean="0"/>
              <a:t> – выполняет проверку на хосте. Необходимо устанавливать на все хосты,</a:t>
            </a:r>
            <a:r>
              <a:rPr lang="ru-RU" baseline="0" dirty="0" smtClean="0"/>
              <a:t> как с ОС </a:t>
            </a:r>
            <a:r>
              <a:rPr lang="en-US" baseline="0" dirty="0" smtClean="0"/>
              <a:t>Windows</a:t>
            </a:r>
            <a:r>
              <a:rPr lang="ru-RU" baseline="0" dirty="0" smtClean="0"/>
              <a:t>, так и с </a:t>
            </a:r>
            <a:r>
              <a:rPr lang="en-US" baseline="0" dirty="0" err="1" smtClean="0"/>
              <a:t>linux</a:t>
            </a:r>
            <a:r>
              <a:rPr lang="ru-RU" baseline="0" dirty="0" smtClean="0"/>
              <a:t>. Сейчас большинство антивирусов позволяет это делать.</a:t>
            </a:r>
            <a:r>
              <a:rPr lang="en-US" baseline="0" dirty="0" smtClean="0"/>
              <a:t> </a:t>
            </a:r>
            <a:endParaRPr lang="ru-RU" dirty="0" smtClean="0"/>
          </a:p>
          <a:p>
            <a:r>
              <a:rPr lang="ru-RU" dirty="0" smtClean="0"/>
              <a:t>Потоковый – устанавливается на прокси-сервере и проверяет скачиваемые файлы</a:t>
            </a:r>
            <a:r>
              <a:rPr lang="ru-RU" baseline="0" dirty="0" smtClean="0"/>
              <a:t> и весь проходящий через него трафик. </a:t>
            </a:r>
          </a:p>
          <a:p>
            <a:r>
              <a:rPr lang="ru-RU" baseline="0" dirty="0" smtClean="0"/>
              <a:t>Почтовый антивирус (+</a:t>
            </a:r>
            <a:r>
              <a:rPr lang="ru-RU" baseline="0" dirty="0" err="1" smtClean="0"/>
              <a:t>антиспам</a:t>
            </a:r>
            <a:r>
              <a:rPr lang="ru-RU" baseline="0" dirty="0" smtClean="0"/>
              <a:t>) – проверяет письма, вложения на наличие вирусов (спама). Позволяет блокировать отправителя по почте. </a:t>
            </a:r>
            <a:r>
              <a:rPr lang="en-US" baseline="0" dirty="0" err="1" smtClean="0"/>
              <a:t>Ip</a:t>
            </a:r>
            <a:r>
              <a:rPr lang="en-US" baseline="0" dirty="0" smtClean="0"/>
              <a:t> </a:t>
            </a:r>
            <a:r>
              <a:rPr lang="ru-RU" baseline="0" dirty="0" smtClean="0"/>
              <a:t>отправителя, домену </a:t>
            </a:r>
            <a:r>
              <a:rPr lang="ru-RU" baseline="0" dirty="0" smtClean="0"/>
              <a:t>отправителя. </a:t>
            </a:r>
            <a:endParaRPr lang="ru-RU" baseline="0" dirty="0" smtClean="0"/>
          </a:p>
          <a:p>
            <a:r>
              <a:rPr lang="ru-RU" baseline="0" dirty="0" smtClean="0"/>
              <a:t>В больших организациях необходимо устанавливать Центры управления антивирусом. Это, во-первых, позволит удобно его администрировать, во-вторых отслеживать все вирусные события более оперативно.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931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Изолированная</a:t>
            </a:r>
            <a:r>
              <a:rPr lang="ru-RU" baseline="0" dirty="0" smtClean="0"/>
              <a:t> среда – виртуальный/железный хост, предназначен для проверки писем на </a:t>
            </a:r>
            <a:r>
              <a:rPr lang="ru-RU" baseline="0" dirty="0" err="1" smtClean="0"/>
              <a:t>фишинг</a:t>
            </a:r>
            <a:r>
              <a:rPr lang="ru-RU" baseline="0" dirty="0" smtClean="0"/>
              <a:t>, файлов, ссылок. На таком хосте установлены различные утилиты и ПО для отслеживания действий проверяемых объектов: куда перешёл, что запустилось, какой процесс, какой файл создался/удалился и т.п. и в итоге выдают комплексный отчёт и вердикт – вредоносный объект или нет.</a:t>
            </a:r>
          </a:p>
          <a:p>
            <a:r>
              <a:rPr lang="ru-RU" baseline="0" dirty="0" smtClean="0"/>
              <a:t>Существуют внешние сервисы-песочницы, существуют внутренние продукты. Которые устанавливаются внутри сети организации, также такую песочницу можно сделать самому. </a:t>
            </a:r>
          </a:p>
          <a:p>
            <a:r>
              <a:rPr lang="ru-RU" dirty="0" smtClean="0"/>
              <a:t>Многие продукты предлагают автоматизированные песочницы при проверки писем, т.е. пришло письмо – оно проверяется в песочнице, выносится вердикт и уже на его основании</a:t>
            </a:r>
            <a:r>
              <a:rPr lang="ru-RU" baseline="0" dirty="0" smtClean="0"/>
              <a:t> либо письмо блокируется, либо проходит дальше. Но на практике вердикты часто бывают ложными и необходимо вручную проверять письма на </a:t>
            </a:r>
            <a:r>
              <a:rPr lang="ru-RU" baseline="0" dirty="0" err="1" smtClean="0"/>
              <a:t>фишинг</a:t>
            </a:r>
            <a:r>
              <a:rPr lang="ru-RU" baseline="0" dirty="0" smtClean="0"/>
              <a:t>. </a:t>
            </a:r>
          </a:p>
          <a:p>
            <a:r>
              <a:rPr lang="ru-RU" baseline="0" dirty="0" smtClean="0"/>
              <a:t>Из условно бесплатных песочниц могу посоветовать сервис </a:t>
            </a:r>
            <a:r>
              <a:rPr lang="en-US" baseline="0" dirty="0" err="1" smtClean="0"/>
              <a:t>any.run</a:t>
            </a:r>
            <a:r>
              <a:rPr lang="ru-RU" baseline="0" dirty="0" smtClean="0"/>
              <a:t> – </a:t>
            </a:r>
            <a:r>
              <a:rPr lang="ru-RU" baseline="0" dirty="0" smtClean="0"/>
              <a:t>бесплатного </a:t>
            </a:r>
            <a:r>
              <a:rPr lang="ru-RU" baseline="0" dirty="0" smtClean="0"/>
              <a:t>тарифа хватает на 1 минуту проверки письма/файла/ссылки.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477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Большинство компаний создают собственные удостоверяющие центры для того,</a:t>
            </a:r>
            <a:r>
              <a:rPr lang="ru-RU" baseline="0" dirty="0" smtClean="0"/>
              <a:t> чтобы пользоваться сертификатами для входа в ОС, какие-то сервисы. Разворачивают внутри организации собственный электронный документооборот для которого также необходимы сертификаты. Шифруют письма внутри организации с помощью сертификатов. </a:t>
            </a:r>
          </a:p>
          <a:p>
            <a:r>
              <a:rPr lang="ru-RU" baseline="0" dirty="0" smtClean="0"/>
              <a:t>Криптография представлена такими продуктами как разные </a:t>
            </a:r>
            <a:r>
              <a:rPr lang="ru-RU" baseline="0" dirty="0" err="1" smtClean="0"/>
              <a:t>криптопровайдеры</a:t>
            </a:r>
            <a:r>
              <a:rPr lang="ru-RU" baseline="0" dirty="0" smtClean="0"/>
              <a:t> для работы с сертификатами и шифрованием. Часто используются зашифрованные диски хостах для хранения критичной информации. В некоторых организациях используют шифрование флэшек для переноса защищаемой информации, но такой метод несёт много ограничений и не удобен. </a:t>
            </a:r>
          </a:p>
          <a:p>
            <a:r>
              <a:rPr lang="ru-RU" baseline="0" dirty="0" smtClean="0"/>
              <a:t>УЦ и криптография во всех организациях примерно одно и то же, особенности никаких нет.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093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Для того,</a:t>
            </a:r>
            <a:r>
              <a:rPr lang="ru-RU" baseline="0" dirty="0" smtClean="0"/>
              <a:t> чтобы безопасно (по шифрованному каналу) подключиться к работе – используется защищённый удалённый доступ (</a:t>
            </a:r>
            <a:r>
              <a:rPr lang="en-US" baseline="0" dirty="0" smtClean="0"/>
              <a:t>VPN</a:t>
            </a:r>
            <a:r>
              <a:rPr lang="ru-RU" baseline="0" dirty="0" smtClean="0"/>
              <a:t>). Также подрядчики, которые должны  проводить работы в инфраструктуре организации должны </a:t>
            </a:r>
            <a:r>
              <a:rPr lang="ru-RU" baseline="0" dirty="0" smtClean="0"/>
              <a:t>безопасно </a:t>
            </a:r>
            <a:r>
              <a:rPr lang="ru-RU" baseline="0" dirty="0" smtClean="0"/>
              <a:t>подключаться. </a:t>
            </a:r>
          </a:p>
          <a:p>
            <a:r>
              <a:rPr lang="ru-RU" baseline="0" dirty="0" smtClean="0"/>
              <a:t>Если необходимо обмениваться с другими организациями какой-то закрытой информацией – также используются шифрованный канал. </a:t>
            </a:r>
          </a:p>
          <a:p>
            <a:r>
              <a:rPr lang="ru-RU" baseline="0" dirty="0" smtClean="0"/>
              <a:t>Если для </a:t>
            </a:r>
            <a:r>
              <a:rPr lang="ru-RU" baseline="0" dirty="0" smtClean="0"/>
              <a:t>взаимодействия </a:t>
            </a:r>
            <a:r>
              <a:rPr lang="ru-RU" baseline="0" dirty="0" smtClean="0"/>
              <a:t>сотрудник-организация часто достаточно использовать </a:t>
            </a:r>
            <a:r>
              <a:rPr lang="ru-RU" baseline="0" dirty="0" err="1" smtClean="0"/>
              <a:t>негостовые</a:t>
            </a:r>
            <a:r>
              <a:rPr lang="ru-RU" baseline="0" dirty="0" smtClean="0"/>
              <a:t> алгоритмы шифрования. То для обмена </a:t>
            </a:r>
            <a:r>
              <a:rPr lang="ru-RU" baseline="0" dirty="0" smtClean="0">
                <a:solidFill>
                  <a:srgbClr val="FF0000"/>
                </a:solidFill>
              </a:rPr>
              <a:t>информацией с другими организациями (в основном государственными и для соблюдения различных требований) используется </a:t>
            </a:r>
            <a:r>
              <a:rPr lang="ru-RU" baseline="0" dirty="0" err="1" smtClean="0">
                <a:solidFill>
                  <a:srgbClr val="FF0000"/>
                </a:solidFill>
              </a:rPr>
              <a:t>криптошлюзы</a:t>
            </a:r>
            <a:r>
              <a:rPr lang="ru-RU" baseline="0" dirty="0" smtClean="0">
                <a:solidFill>
                  <a:srgbClr val="FF0000"/>
                </a:solidFill>
              </a:rPr>
              <a:t> с </a:t>
            </a:r>
            <a:r>
              <a:rPr lang="ru-RU" baseline="0" dirty="0" err="1" smtClean="0">
                <a:solidFill>
                  <a:srgbClr val="FF0000"/>
                </a:solidFill>
              </a:rPr>
              <a:t>гостовым</a:t>
            </a:r>
            <a:r>
              <a:rPr lang="ru-RU" baseline="0" dirty="0" smtClean="0">
                <a:solidFill>
                  <a:srgbClr val="FF0000"/>
                </a:solidFill>
              </a:rPr>
              <a:t> шифрованием. 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647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Для</a:t>
            </a:r>
            <a:r>
              <a:rPr lang="ru-RU" baseline="0" dirty="0" smtClean="0"/>
              <a:t> того, чтобы искать уязвимости в организациях используются сканеры уязвимостей. Их большое количество. Есть платные, есть бесплатные. На любой вкус. </a:t>
            </a:r>
          </a:p>
          <a:p>
            <a:r>
              <a:rPr lang="ru-RU" baseline="0" dirty="0" smtClean="0"/>
              <a:t>Некоторые организации пользуются внешними сервисами для сканирования на уязвимости – плюсы такого подхода в том, что не нужно содержать сервер/сервера для сканера + нет необходимости покупать и обновлять ПО – все предоставляется по подписке. </a:t>
            </a:r>
          </a:p>
          <a:p>
            <a:r>
              <a:rPr lang="ru-RU" baseline="0" dirty="0" smtClean="0"/>
              <a:t>В распределённой организации обычно устанавливаются несколько сканеров в каждом филиале, которые сканируют свой филиал и результаты передают в центральный модуль. </a:t>
            </a:r>
          </a:p>
          <a:p>
            <a:r>
              <a:rPr lang="ru-RU" baseline="0" dirty="0" smtClean="0"/>
              <a:t>Главное – сканирование </a:t>
            </a:r>
            <a:r>
              <a:rPr lang="ru-RU" baseline="0" dirty="0" smtClean="0"/>
              <a:t>регулярное </a:t>
            </a:r>
            <a:r>
              <a:rPr lang="ru-RU" baseline="0" dirty="0" smtClean="0"/>
              <a:t>(раз в </a:t>
            </a:r>
            <a:r>
              <a:rPr lang="ru-RU" baseline="0" dirty="0" smtClean="0"/>
              <a:t>неделю/месяц</a:t>
            </a:r>
            <a:r>
              <a:rPr lang="ru-RU" baseline="0" dirty="0" smtClean="0"/>
              <a:t>), т.к. уязвимости появляются регулярно, а также сканирование на уязвимости всего оборудования, которое находится на предприятии. Ведь уровень защищённости организации в целом – это уровень защищённости самой слабого его звена. Из бесплатных продуктов могу посоветовать </a:t>
            </a:r>
            <a:r>
              <a:rPr lang="en-US" baseline="0" dirty="0" smtClean="0"/>
              <a:t>OpenVAS</a:t>
            </a:r>
            <a:r>
              <a:rPr lang="ru-RU" baseline="0" dirty="0" smtClean="0"/>
              <a:t>. </a:t>
            </a:r>
          </a:p>
          <a:p>
            <a:r>
              <a:rPr lang="ru-RU" baseline="0" dirty="0" smtClean="0"/>
              <a:t>Так как сканирование на уязвимости нагружает некоторое ПО и оно может работать в этот момент со сбоями, то вводятся периоды, когда сканировать те или иные хосты запрещено (например, во время подготовки и сдачи какой-то отчётности или какого-то проекта)</a:t>
            </a:r>
          </a:p>
          <a:p>
            <a:r>
              <a:rPr lang="ru-RU" baseline="0" dirty="0" err="1" smtClean="0"/>
              <a:t>Патчинг</a:t>
            </a:r>
            <a:r>
              <a:rPr lang="ru-RU" baseline="0" dirty="0" smtClean="0"/>
              <a:t> найденных уязвимостей. В больших организациях – это головная боль </a:t>
            </a:r>
            <a:r>
              <a:rPr lang="ru-RU" baseline="0" dirty="0" err="1" smtClean="0"/>
              <a:t>ибешника</a:t>
            </a:r>
            <a:r>
              <a:rPr lang="ru-RU" baseline="0" dirty="0" smtClean="0"/>
              <a:t>, т.к. если </a:t>
            </a:r>
            <a:r>
              <a:rPr lang="ru-RU" baseline="0" dirty="0" err="1" smtClean="0"/>
              <a:t>итешники</a:t>
            </a:r>
            <a:r>
              <a:rPr lang="ru-RU" baseline="0" dirty="0" smtClean="0"/>
              <a:t>  на </a:t>
            </a:r>
            <a:r>
              <a:rPr lang="ru-RU" baseline="0" dirty="0" err="1" smtClean="0"/>
              <a:t>патчинг</a:t>
            </a:r>
            <a:r>
              <a:rPr lang="ru-RU" baseline="0" dirty="0" smtClean="0"/>
              <a:t> ОС смотрят боле-менее лояльно. То на </a:t>
            </a:r>
            <a:r>
              <a:rPr lang="ru-RU" baseline="0" dirty="0" err="1" smtClean="0"/>
              <a:t>патчинг</a:t>
            </a:r>
            <a:r>
              <a:rPr lang="ru-RU" baseline="0" dirty="0" smtClean="0"/>
              <a:t> прикладного ПО (веб-сервера, БД и т.п.) на некоторых ПАК смотрят отрицательно, т.к. работа ПАК гарантирована только на определённых версиях прикладного ПО. Здесь приходится искать </a:t>
            </a:r>
            <a:r>
              <a:rPr lang="ru-RU" baseline="0" dirty="0" smtClean="0"/>
              <a:t>компромисс, </a:t>
            </a:r>
            <a:r>
              <a:rPr lang="ru-RU" baseline="0" dirty="0" smtClean="0"/>
              <a:t>придумывать костыли – чтобы </a:t>
            </a:r>
            <a:r>
              <a:rPr lang="ru-RU" baseline="0" dirty="0" err="1" smtClean="0"/>
              <a:t>невелировать</a:t>
            </a:r>
            <a:r>
              <a:rPr lang="ru-RU" baseline="0" dirty="0" smtClean="0"/>
              <a:t> угрозу от уязвимости и не нарушить работоспособность ПАК. </a:t>
            </a:r>
          </a:p>
          <a:p>
            <a:r>
              <a:rPr lang="ru-RU" baseline="0" dirty="0" smtClean="0"/>
              <a:t>Помимо использования сканеров поиска уязвимостей большую роль играет просмотр новостей и сайтов </a:t>
            </a:r>
            <a:r>
              <a:rPr lang="ru-RU" baseline="0" dirty="0" err="1" smtClean="0"/>
              <a:t>вендоров</a:t>
            </a:r>
            <a:r>
              <a:rPr lang="ru-RU" baseline="0" dirty="0" smtClean="0"/>
              <a:t>, которые публикуют информацию о новых уязвимостях – это позволяет своевременно устранять наиболее критичные и опасные уязвимости, а также уязвимости, для которых </a:t>
            </a:r>
            <a:r>
              <a:rPr lang="ru-RU" baseline="0" dirty="0" smtClean="0"/>
              <a:t>были </a:t>
            </a:r>
            <a:r>
              <a:rPr lang="ru-RU" baseline="0" dirty="0" smtClean="0"/>
              <a:t>разработаны и выложены </a:t>
            </a:r>
            <a:r>
              <a:rPr lang="en-US" baseline="0" dirty="0" err="1" smtClean="0"/>
              <a:t>PoC</a:t>
            </a:r>
            <a:r>
              <a:rPr lang="ru-RU" baseline="0" dirty="0" smtClean="0"/>
              <a:t>. </a:t>
            </a:r>
          </a:p>
          <a:p>
            <a:r>
              <a:rPr lang="ru-RU" baseline="0" dirty="0" smtClean="0"/>
              <a:t>К поиску уязвимостей можно добавить и регулярное сканирование ресурсов, доступных из интернета на наличие новых портов, а также появления новых хостов организации.</a:t>
            </a:r>
          </a:p>
          <a:p>
            <a:r>
              <a:rPr lang="ru-RU" baseline="0" dirty="0" smtClean="0"/>
              <a:t>Да и </a:t>
            </a:r>
            <a:r>
              <a:rPr lang="ru-RU" baseline="0" dirty="0" err="1" smtClean="0"/>
              <a:t>патчинг</a:t>
            </a:r>
            <a:r>
              <a:rPr lang="ru-RU" baseline="0" dirty="0" smtClean="0"/>
              <a:t> любой уязвимости (даже на ОС </a:t>
            </a:r>
            <a:r>
              <a:rPr lang="en-US" baseline="0" dirty="0" smtClean="0"/>
              <a:t>Windows</a:t>
            </a:r>
            <a:r>
              <a:rPr lang="ru-RU" baseline="0" dirty="0" smtClean="0"/>
              <a:t>) проводится сначала на тестовых серверах</a:t>
            </a:r>
            <a:r>
              <a:rPr lang="ru-RU" baseline="0" dirty="0" smtClean="0"/>
              <a:t>. Смотрят </a:t>
            </a:r>
            <a:r>
              <a:rPr lang="ru-RU" baseline="0" dirty="0" smtClean="0"/>
              <a:t>на работоспособность и если всё </a:t>
            </a:r>
            <a:r>
              <a:rPr lang="ru-RU" baseline="0" dirty="0" err="1" smtClean="0"/>
              <a:t>ок</a:t>
            </a:r>
            <a:r>
              <a:rPr lang="ru-RU" baseline="0" dirty="0" smtClean="0"/>
              <a:t> – то </a:t>
            </a:r>
            <a:r>
              <a:rPr lang="ru-RU" baseline="0" dirty="0" err="1" smtClean="0"/>
              <a:t>патчат</a:t>
            </a:r>
            <a:r>
              <a:rPr lang="ru-RU" baseline="0" dirty="0" smtClean="0"/>
              <a:t> основные сервера. Процесс этот не быстрый и может доходить до месяца и полугода для закрытия одной уязвимости.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408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</a:t>
            </a:r>
            <a:r>
              <a:rPr lang="ru-RU" baseline="0" dirty="0" smtClean="0"/>
              <a:t> для отслеживания действий сотрудников. Устанавливаются агенты и </a:t>
            </a:r>
            <a:r>
              <a:rPr lang="ru-RU" baseline="0" dirty="0" err="1" smtClean="0"/>
              <a:t>отсматривается</a:t>
            </a:r>
            <a:r>
              <a:rPr lang="ru-RU" baseline="0" dirty="0" smtClean="0"/>
              <a:t> переписка в мессенджерах, почта, посещение веб-сайтов, копирование на внешние носители, распечатка документов. Делается это для сотрудников. Которые находятся в категории риска: работают с деньгами, с критичной информацией, которых в чём-то подозревают. </a:t>
            </a:r>
          </a:p>
          <a:p>
            <a:r>
              <a:rPr lang="ru-RU" baseline="0" dirty="0" smtClean="0"/>
              <a:t>Использовать </a:t>
            </a:r>
            <a:r>
              <a:rPr lang="en-US" baseline="0" dirty="0" smtClean="0"/>
              <a:t>DLP </a:t>
            </a:r>
            <a:r>
              <a:rPr lang="ru-RU" baseline="0" dirty="0" smtClean="0"/>
              <a:t>следует с осторожностью – здесь важно прописать изначально это использование в документах, посоветовавшись с юристами, т.к. сотрудники могут подать в суд на организацию. При каких-то серьёзных преступлениях сотрудника данные с </a:t>
            </a:r>
            <a:r>
              <a:rPr lang="en-US" baseline="0" dirty="0" smtClean="0"/>
              <a:t>DLP </a:t>
            </a:r>
            <a:r>
              <a:rPr lang="ru-RU" baseline="0" dirty="0" smtClean="0"/>
              <a:t>можно использовать в качестве доказательной базы для передачи дела в правоохранительные органы.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201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Простыми</a:t>
            </a:r>
            <a:r>
              <a:rPr lang="ru-RU" baseline="0" dirty="0" smtClean="0"/>
              <a:t> словами – это команда специалистов. Которая отслеживает все события ИБ, анализирует их и реагирует. Проводит расследования. </a:t>
            </a:r>
          </a:p>
          <a:p>
            <a:r>
              <a:rPr lang="ru-RU" dirty="0" smtClean="0"/>
              <a:t>В своей работа </a:t>
            </a:r>
            <a:r>
              <a:rPr lang="en-US" dirty="0" smtClean="0"/>
              <a:t>SOC </a:t>
            </a:r>
            <a:r>
              <a:rPr lang="ru-RU" dirty="0" smtClean="0"/>
              <a:t>описается на </a:t>
            </a:r>
            <a:r>
              <a:rPr lang="en-US" dirty="0" err="1" smtClean="0"/>
              <a:t>SIEm</a:t>
            </a:r>
            <a:r>
              <a:rPr lang="ru-RU" dirty="0" smtClean="0"/>
              <a:t>-систему.</a:t>
            </a:r>
            <a:r>
              <a:rPr lang="ru-RU" baseline="0" dirty="0" smtClean="0"/>
              <a:t> Система, которая собирает </a:t>
            </a:r>
            <a:r>
              <a:rPr lang="ru-RU" baseline="0" dirty="0" err="1" smtClean="0"/>
              <a:t>логи</a:t>
            </a:r>
            <a:r>
              <a:rPr lang="ru-RU" baseline="0" dirty="0" smtClean="0"/>
              <a:t> со всех устройств в сети организации (хосты. Сервера, сетевое оборудование, прикладное ПО и т.п.), приводит </a:t>
            </a:r>
            <a:r>
              <a:rPr lang="ru-RU" baseline="0" dirty="0" err="1" smtClean="0"/>
              <a:t>логи</a:t>
            </a:r>
            <a:r>
              <a:rPr lang="ru-RU" baseline="0" dirty="0" smtClean="0"/>
              <a:t> к одному виду, </a:t>
            </a:r>
            <a:r>
              <a:rPr lang="ru-RU" baseline="0" dirty="0" smtClean="0"/>
              <a:t>коррелирует </a:t>
            </a:r>
            <a:r>
              <a:rPr lang="ru-RU" baseline="0" dirty="0" smtClean="0"/>
              <a:t>их и хранит долгое время. </a:t>
            </a:r>
          </a:p>
          <a:p>
            <a:r>
              <a:rPr lang="ru-RU" baseline="0" dirty="0" smtClean="0"/>
              <a:t>Конечно со всех устройств </a:t>
            </a:r>
            <a:r>
              <a:rPr lang="ru-RU" baseline="0" dirty="0" smtClean="0"/>
              <a:t>сыпется </a:t>
            </a:r>
            <a:r>
              <a:rPr lang="ru-RU" baseline="0" dirty="0" smtClean="0"/>
              <a:t>миллионы/миллиарды событий в день. </a:t>
            </a:r>
            <a:r>
              <a:rPr lang="en-US" baseline="0" dirty="0" err="1" smtClean="0"/>
              <a:t>SIEm</a:t>
            </a:r>
            <a:r>
              <a:rPr lang="en-US" baseline="0" dirty="0" smtClean="0"/>
              <a:t> </a:t>
            </a:r>
            <a:r>
              <a:rPr lang="ru-RU" baseline="0" dirty="0" smtClean="0"/>
              <a:t>помогают классифицировать все события и по заданным правилам помогают вычленить атаки. </a:t>
            </a:r>
          </a:p>
          <a:p>
            <a:r>
              <a:rPr lang="ru-RU" baseline="0" dirty="0" smtClean="0"/>
              <a:t>Классический </a:t>
            </a:r>
            <a:r>
              <a:rPr lang="en-US" baseline="0" dirty="0" smtClean="0"/>
              <a:t>SOC </a:t>
            </a:r>
            <a:r>
              <a:rPr lang="ru-RU" baseline="0" dirty="0" smtClean="0"/>
              <a:t>состоит из 3-х линий – 1 линия (сотрудник </a:t>
            </a:r>
            <a:r>
              <a:rPr lang="ru-RU" baseline="0" dirty="0" err="1" smtClean="0"/>
              <a:t>отсматривает</a:t>
            </a:r>
            <a:r>
              <a:rPr lang="ru-RU" baseline="0" dirty="0" smtClean="0"/>
              <a:t> все события и если увидел подозрительное или сработало правило корреляции, то он передаёт эти события на вторую линию).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 smtClean="0"/>
              <a:t>2 линия – </a:t>
            </a:r>
            <a:r>
              <a:rPr lang="ru-RU" baseline="0" dirty="0" err="1" smtClean="0"/>
              <a:t>отсматривает</a:t>
            </a:r>
            <a:r>
              <a:rPr lang="ru-RU" baseline="0" dirty="0" smtClean="0"/>
              <a:t> все поступившие с 1 линии события и проводит анализ – что является ложными, а что действительно представляют угрозу и ставит вердикт – событие ложное или это инцидент ИБ. Реагирует на это событие события (блокировка </a:t>
            </a:r>
            <a:r>
              <a:rPr lang="en-US" baseline="0" dirty="0" err="1" smtClean="0"/>
              <a:t>ip</a:t>
            </a:r>
            <a:r>
              <a:rPr lang="ru-RU" baseline="0" dirty="0" smtClean="0"/>
              <a:t>, почты, порта. Внеплановая антивирусная проверка и т.п.) для каждого типа события создаются свои алгоритмы реагирования. По которым сотрудники </a:t>
            </a:r>
            <a:r>
              <a:rPr lang="en-US" baseline="0" dirty="0" smtClean="0"/>
              <a:t>SOC </a:t>
            </a:r>
            <a:r>
              <a:rPr lang="ru-RU" baseline="0" dirty="0" smtClean="0"/>
              <a:t>реагируют на события.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 smtClean="0"/>
              <a:t>3 линия – глубокий анализ событий + расследование инцидентов ИБ – собирает все </a:t>
            </a:r>
            <a:r>
              <a:rPr lang="ru-RU" baseline="0" dirty="0" err="1" smtClean="0"/>
              <a:t>логи</a:t>
            </a:r>
            <a:r>
              <a:rPr lang="ru-RU" baseline="0" dirty="0" smtClean="0"/>
              <a:t>, выстаивает последовательность действий злоумышленника, его цели, ПО, которым он </a:t>
            </a:r>
            <a:r>
              <a:rPr lang="ru-RU" baseline="0" dirty="0" smtClean="0"/>
              <a:t>пользовался, </a:t>
            </a:r>
            <a:r>
              <a:rPr lang="ru-RU" baseline="0" dirty="0" smtClean="0"/>
              <a:t>все затронутые хосты и используемые уязвимости. </a:t>
            </a:r>
            <a:r>
              <a:rPr lang="en-US" baseline="0" dirty="0" smtClean="0"/>
              <a:t>Threat hunting </a:t>
            </a:r>
            <a:r>
              <a:rPr lang="ru-RU" baseline="0" dirty="0" smtClean="0"/>
              <a:t> - </a:t>
            </a:r>
            <a:r>
              <a:rPr lang="ru-RU" baseline="0" dirty="0" err="1" smtClean="0"/>
              <a:t>проактивный</a:t>
            </a:r>
            <a:r>
              <a:rPr lang="ru-RU" baseline="0" dirty="0" smtClean="0"/>
              <a:t> поиск вредоносной активности, которая не была обнаружена обычными средствами защиты. Вирусная аналитика.</a:t>
            </a:r>
          </a:p>
          <a:p>
            <a:r>
              <a:rPr lang="ru-RU" baseline="0" dirty="0" smtClean="0"/>
              <a:t>Обычно </a:t>
            </a:r>
            <a:r>
              <a:rPr lang="en-US" baseline="0" dirty="0" smtClean="0"/>
              <a:t>SOC </a:t>
            </a:r>
            <a:r>
              <a:rPr lang="ru-RU" baseline="0" dirty="0" smtClean="0"/>
              <a:t>работает круглосуточно 24/7.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919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Пользователи.</a:t>
            </a:r>
            <a:r>
              <a:rPr lang="ru-RU" baseline="0" dirty="0" smtClean="0"/>
              <a:t> Которые обладают административными правами локальными, доменными – требуют более пристального внимания из-за того, что могут натворить много дел. Нередки ситуации. Когда администратор что-то сделал и система сломалась, а вот что сделал – не говорит и вообще отрицает, что из-за него всё сломалось. Данную систему применяют и для контроля действий подрядчиков, когда они подключаются к серверам организации для выполнения каких-то работ</a:t>
            </a:r>
          </a:p>
          <a:p>
            <a:r>
              <a:rPr lang="ru-RU" baseline="0" dirty="0" smtClean="0"/>
              <a:t>Система контроля позволяет записывать сессии администраторов, когда они удаленно подключаются к серверам и вводят команды/что-то настраивают, </a:t>
            </a:r>
            <a:r>
              <a:rPr lang="ru-RU" baseline="0" dirty="0" smtClean="0"/>
              <a:t>в общем, </a:t>
            </a:r>
            <a:r>
              <a:rPr lang="ru-RU" baseline="0" dirty="0" smtClean="0"/>
              <a:t>все их действия.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111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Сложный процесс</a:t>
            </a:r>
            <a:r>
              <a:rPr lang="ru-RU" baseline="0" dirty="0" smtClean="0"/>
              <a:t> (в техническом плане и в плане процесса). В больших организациях происходит собственная разработки ПО. Для того. Чтобы это ПО было безопасным существует этот процесс. Происходит статический и динамический анализ кода.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Статический - без реального выполнения исследуемых программ. В большинстве случаев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анализ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производится над какой-либо версией исходного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721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Поиск информации об организации из открытых источников. </a:t>
            </a:r>
            <a:r>
              <a:rPr lang="en-US" dirty="0" smtClean="0"/>
              <a:t>OSINT</a:t>
            </a:r>
            <a:r>
              <a:rPr lang="en-US" baseline="0" dirty="0" smtClean="0"/>
              <a:t> </a:t>
            </a:r>
            <a:r>
              <a:rPr lang="ru-RU" baseline="0" dirty="0" smtClean="0"/>
              <a:t>пользуются как хакеры. Так и </a:t>
            </a:r>
            <a:r>
              <a:rPr lang="ru-RU" baseline="0" dirty="0" err="1" smtClean="0"/>
              <a:t>ибешники</a:t>
            </a:r>
            <a:r>
              <a:rPr lang="ru-RU" baseline="0" dirty="0" smtClean="0"/>
              <a:t>. Хакеры ищут хоть какую-то информацию об организации: почты сотрудников, ФИО. Используемое ПО и т.п. </a:t>
            </a:r>
          </a:p>
          <a:p>
            <a:r>
              <a:rPr lang="ru-RU" baseline="0" dirty="0" err="1" smtClean="0"/>
              <a:t>Ибешники</a:t>
            </a:r>
            <a:r>
              <a:rPr lang="ru-RU" baseline="0" dirty="0" smtClean="0"/>
              <a:t> ищут выложенные данные об организации в интернете, проверяют корпоративные почты в база утечек паролей. Ищут похожие на корпоративные имена доменов которые могут быть использованы для </a:t>
            </a:r>
            <a:r>
              <a:rPr lang="ru-RU" baseline="0" dirty="0" err="1" smtClean="0"/>
              <a:t>фишинговых</a:t>
            </a:r>
            <a:r>
              <a:rPr lang="ru-RU" baseline="0" dirty="0" smtClean="0"/>
              <a:t> писем или </a:t>
            </a:r>
            <a:r>
              <a:rPr lang="ru-RU" baseline="0" dirty="0" err="1" smtClean="0"/>
              <a:t>фишинговых</a:t>
            </a:r>
            <a:r>
              <a:rPr lang="ru-RU" baseline="0" dirty="0" smtClean="0"/>
              <a:t> сайтов, для их блокировки на СЗИ. </a:t>
            </a:r>
          </a:p>
          <a:p>
            <a:r>
              <a:rPr lang="ru-RU" baseline="0" dirty="0" smtClean="0"/>
              <a:t>Здесь могу посоветовать использовать </a:t>
            </a:r>
            <a:r>
              <a:rPr lang="en-US" baseline="0" dirty="0" smtClean="0"/>
              <a:t>google dorks</a:t>
            </a:r>
            <a:r>
              <a:rPr lang="ru-RU" baseline="0" dirty="0" smtClean="0"/>
              <a:t>, поисковик Мамонт, </a:t>
            </a:r>
            <a:r>
              <a:rPr lang="en-US" baseline="0" dirty="0" err="1" smtClean="0"/>
              <a:t>Maltego</a:t>
            </a:r>
            <a:r>
              <a:rPr lang="en-US" baseline="0" dirty="0" smtClean="0"/>
              <a:t> </a:t>
            </a:r>
            <a:r>
              <a:rPr lang="ru-RU" baseline="0" dirty="0" smtClean="0"/>
              <a:t>и т.п. Поиск информации о </a:t>
            </a:r>
            <a:r>
              <a:rPr lang="ru-RU" baseline="0" dirty="0" smtClean="0"/>
              <a:t>готовящихся взломах </a:t>
            </a:r>
            <a:r>
              <a:rPr lang="ru-RU" baseline="0" dirty="0" smtClean="0"/>
              <a:t>на хакерских форумах. Высший пилотаж – это внедрение в хакерские группировки и на закрытые форумы.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416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Очень важный</a:t>
            </a:r>
            <a:r>
              <a:rPr lang="ru-RU" baseline="0" dirty="0" smtClean="0"/>
              <a:t> момент. Большинство сотрудников организаций – слыхом не слыхивали об ИБ. Поэтому очень важно проводить регулярное обучение сотрудников основам </a:t>
            </a:r>
            <a:r>
              <a:rPr lang="ru-RU" baseline="0" dirty="0" err="1" smtClean="0"/>
              <a:t>Иб</a:t>
            </a:r>
            <a:r>
              <a:rPr lang="ru-RU" baseline="0" dirty="0" smtClean="0"/>
              <a:t>, рассказывать им о парольной политике, </a:t>
            </a:r>
            <a:r>
              <a:rPr lang="ru-RU" baseline="0" dirty="0" err="1" smtClean="0"/>
              <a:t>фишинге</a:t>
            </a:r>
            <a:r>
              <a:rPr lang="ru-RU" baseline="0" dirty="0" smtClean="0"/>
              <a:t>, социальной инженерии. Обучение необходимо проводить как </a:t>
            </a:r>
            <a:r>
              <a:rPr lang="ru-RU" baseline="0" dirty="0" smtClean="0"/>
              <a:t>для новых </a:t>
            </a:r>
            <a:r>
              <a:rPr lang="ru-RU" baseline="0" dirty="0" smtClean="0"/>
              <a:t>сотрудников, так и для существующих. </a:t>
            </a:r>
          </a:p>
          <a:p>
            <a:r>
              <a:rPr lang="ru-RU" baseline="0" dirty="0" smtClean="0"/>
              <a:t>Обучение необходимо проводить также и для самих сотрудников ИБ, т.к. сфера быстро меняется каждый день, появляются новые типы СЗИ, новые подходы.  Здесь бы я отметил два подхода: классическое обучение – курсы, семинары, </a:t>
            </a:r>
            <a:r>
              <a:rPr lang="ru-RU" baseline="0" dirty="0" err="1" smtClean="0"/>
              <a:t>вебинары</a:t>
            </a:r>
            <a:r>
              <a:rPr lang="ru-RU" baseline="0" dirty="0" smtClean="0"/>
              <a:t> и учебный полигон, на котором эмулируются атаки и сотрудник 9в зависимости от того, чем он занимается, </a:t>
            </a:r>
            <a:r>
              <a:rPr lang="ru-RU" baseline="0" dirty="0" smtClean="0"/>
              <a:t>должен </a:t>
            </a:r>
            <a:r>
              <a:rPr lang="ru-RU" baseline="0" dirty="0" smtClean="0"/>
              <a:t>либо обнаруживать атаки, либо реагировать на них. Либо расследовать. </a:t>
            </a:r>
          </a:p>
          <a:p>
            <a:r>
              <a:rPr lang="ru-RU" baseline="0" dirty="0" smtClean="0"/>
              <a:t>Отдельным пунктом выделю </a:t>
            </a:r>
            <a:r>
              <a:rPr lang="ru-RU" baseline="0" dirty="0" err="1" smtClean="0"/>
              <a:t>антифишингоые</a:t>
            </a:r>
            <a:r>
              <a:rPr lang="ru-RU" baseline="0" dirty="0" smtClean="0"/>
              <a:t> тренировки. Тестовые </a:t>
            </a:r>
            <a:r>
              <a:rPr lang="ru-RU" baseline="0" dirty="0" err="1" smtClean="0"/>
              <a:t>фишинговые</a:t>
            </a:r>
            <a:r>
              <a:rPr lang="ru-RU" baseline="0" dirty="0" smtClean="0"/>
              <a:t> рассылки сотрудникам с последующим сбором статистики6 кто открыл письмо, кто перешёл по ссылке, кто открыл вложения и проведение бесед с отличившимися сотрудниками. Ведь какая бы не была крутой защита, самым слабым звеном остаются люди – проще всего попасть в </a:t>
            </a:r>
            <a:r>
              <a:rPr lang="ru-RU" baseline="0" dirty="0" smtClean="0"/>
              <a:t>организацию </a:t>
            </a:r>
            <a:r>
              <a:rPr lang="ru-RU" baseline="0" dirty="0" smtClean="0"/>
              <a:t>используя </a:t>
            </a:r>
            <a:r>
              <a:rPr lang="ru-RU" baseline="0" dirty="0" err="1" smtClean="0"/>
              <a:t>фишинг</a:t>
            </a:r>
            <a:r>
              <a:rPr lang="ru-RU" baseline="0" dirty="0" smtClean="0"/>
              <a:t> или социальную инженерию. Сотрудники очень охотно вводят свои логины/пароли в </a:t>
            </a:r>
            <a:r>
              <a:rPr lang="ru-RU" baseline="0" dirty="0" err="1" smtClean="0"/>
              <a:t>фишинговых</a:t>
            </a:r>
            <a:r>
              <a:rPr lang="ru-RU" baseline="0" dirty="0" smtClean="0"/>
              <a:t> формах или диктуют их по телефону.  Для проведения </a:t>
            </a:r>
            <a:r>
              <a:rPr lang="ru-RU" baseline="0" dirty="0" err="1" smtClean="0"/>
              <a:t>антифишинговой</a:t>
            </a:r>
            <a:r>
              <a:rPr lang="ru-RU" baseline="0" dirty="0" smtClean="0"/>
              <a:t> тренировки я пользуюсь СРП </a:t>
            </a:r>
            <a:r>
              <a:rPr lang="en-US" baseline="0" dirty="0" err="1" smtClean="0"/>
              <a:t>Gophish</a:t>
            </a:r>
            <a:r>
              <a:rPr lang="ru-RU" baseline="0" dirty="0" smtClean="0"/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333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Существует</a:t>
            </a:r>
            <a:r>
              <a:rPr lang="ru-RU" baseline="0" dirty="0" smtClean="0"/>
              <a:t> несколько подходов к тестированию на проникновения:</a:t>
            </a:r>
          </a:p>
          <a:p>
            <a:r>
              <a:rPr lang="ru-RU" baseline="0" dirty="0" smtClean="0"/>
              <a:t>Классический и </a:t>
            </a:r>
            <a:r>
              <a:rPr lang="en-US" baseline="0" dirty="0" err="1" smtClean="0"/>
              <a:t>Redteam</a:t>
            </a:r>
            <a:r>
              <a:rPr lang="ru-RU" baseline="0" dirty="0" smtClean="0"/>
              <a:t>.</a:t>
            </a:r>
          </a:p>
          <a:p>
            <a:r>
              <a:rPr lang="ru-RU" baseline="0" dirty="0" smtClean="0"/>
              <a:t>Также разделяют – внешний и внутренний. </a:t>
            </a:r>
          </a:p>
          <a:p>
            <a:r>
              <a:rPr lang="ru-RU" baseline="0" dirty="0" smtClean="0"/>
              <a:t>Классический </a:t>
            </a:r>
            <a:r>
              <a:rPr lang="ru-RU" baseline="0" dirty="0" err="1" smtClean="0"/>
              <a:t>пентест</a:t>
            </a:r>
            <a:r>
              <a:rPr lang="ru-RU" baseline="0" dirty="0" smtClean="0"/>
              <a:t>, когда обговаривается что будет тестироваться, в какое время, как будет тестироваться, с каких </a:t>
            </a:r>
            <a:r>
              <a:rPr lang="en-US" baseline="0" dirty="0" err="1" smtClean="0"/>
              <a:t>ip</a:t>
            </a:r>
            <a:r>
              <a:rPr lang="ru-RU" baseline="0" dirty="0" smtClean="0"/>
              <a:t>. В случае когда были найдены уязвимости. То тестирование заканчивается. Существует внешнее 9когда тестируют из сети интернет) и внутреннее тестирование (когда тестируют внутри ЛВС организации). </a:t>
            </a:r>
          </a:p>
          <a:p>
            <a:r>
              <a:rPr lang="ru-RU" baseline="0" dirty="0" smtClean="0"/>
              <a:t>Второй тип – </a:t>
            </a:r>
            <a:r>
              <a:rPr lang="en-US" baseline="0" dirty="0" err="1" smtClean="0"/>
              <a:t>Redteam</a:t>
            </a:r>
            <a:r>
              <a:rPr lang="ru-RU" baseline="0" dirty="0" smtClean="0"/>
              <a:t> – зачастую известно только название </a:t>
            </a:r>
            <a:r>
              <a:rPr lang="ru-RU" baseline="0" dirty="0" smtClean="0"/>
              <a:t>организации </a:t>
            </a:r>
            <a:r>
              <a:rPr lang="ru-RU" baseline="0" dirty="0" smtClean="0"/>
              <a:t>и всё. Красная команда действует как реальных хакер – пытается проникнуть в сеть организации 9если тестирование внешнее), так и из </a:t>
            </a:r>
            <a:r>
              <a:rPr lang="ru-RU" baseline="0" dirty="0" err="1" smtClean="0"/>
              <a:t>нутри</a:t>
            </a:r>
            <a:r>
              <a:rPr lang="ru-RU" baseline="0" dirty="0" smtClean="0"/>
              <a:t>, если эмулируется инсайдер. Команда останавливается только тогда, когда будет достигнут конечный результат – взять пароль админа домена. </a:t>
            </a:r>
            <a:r>
              <a:rPr lang="ru-RU" baseline="0" dirty="0" smtClean="0"/>
              <a:t>Захватить </a:t>
            </a:r>
            <a:r>
              <a:rPr lang="ru-RU" baseline="0" dirty="0" smtClean="0"/>
              <a:t>хост и контроллер домена, захватить хост АСУ ТП и т.п. в данном типе тестирования может участвовать и команда синих – защитников, которые должны при </a:t>
            </a:r>
            <a:r>
              <a:rPr lang="ru-RU" baseline="0" dirty="0" smtClean="0"/>
              <a:t>обнаружении </a:t>
            </a:r>
            <a:r>
              <a:rPr lang="ru-RU" baseline="0" dirty="0" smtClean="0"/>
              <a:t>атак красных им активно противодействовать, но они не знают в каком месте будет атака, когда и откуда.</a:t>
            </a:r>
          </a:p>
          <a:p>
            <a:r>
              <a:rPr lang="ru-RU" baseline="0" dirty="0" smtClean="0"/>
              <a:t>При </a:t>
            </a:r>
            <a:r>
              <a:rPr lang="en-US" baseline="0" dirty="0" err="1" smtClean="0"/>
              <a:t>Redteam</a:t>
            </a:r>
            <a:r>
              <a:rPr lang="ru-RU" baseline="0" dirty="0" smtClean="0"/>
              <a:t> выясняется реальная защищённость организации, хотя оно намного дороже и проводится по времени дольше. </a:t>
            </a:r>
          </a:p>
          <a:p>
            <a:r>
              <a:rPr lang="ru-RU" baseline="0" dirty="0" smtClean="0"/>
              <a:t>В некоторых организациях процесс </a:t>
            </a:r>
            <a:r>
              <a:rPr lang="en-US" baseline="0" dirty="0" err="1" smtClean="0"/>
              <a:t>Redteam</a:t>
            </a:r>
            <a:r>
              <a:rPr lang="en-US" baseline="0" dirty="0" smtClean="0"/>
              <a:t> </a:t>
            </a:r>
            <a:r>
              <a:rPr lang="ru-RU" baseline="0" dirty="0" smtClean="0"/>
              <a:t>является постоянным – выделяется несколько сотрудников. Которые скрытно от своих коллег и остальных сотрудников проводят тестирование на проникновение. 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3122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данном процессе, в основном, используются </a:t>
            </a:r>
            <a:r>
              <a:rPr lang="en-US" dirty="0" smtClean="0"/>
              <a:t>WAF </a:t>
            </a:r>
            <a:r>
              <a:rPr lang="ru-RU" dirty="0" smtClean="0"/>
              <a:t>– межсетевой экран веб приложений. Данный МЭ защищает от </a:t>
            </a:r>
            <a:r>
              <a:rPr lang="ru-RU" dirty="0" smtClean="0"/>
              <a:t>атак </a:t>
            </a:r>
            <a:r>
              <a:rPr lang="ru-RU" dirty="0" smtClean="0"/>
              <a:t>на сайты</a:t>
            </a:r>
            <a:r>
              <a:rPr lang="ru-RU" baseline="0" dirty="0" smtClean="0"/>
              <a:t> типа: </a:t>
            </a:r>
            <a:r>
              <a:rPr lang="ru-RU" baseline="0" dirty="0" smtClean="0"/>
              <a:t>инъекции, </a:t>
            </a:r>
            <a:r>
              <a:rPr lang="ru-RU" baseline="0" dirty="0" smtClean="0"/>
              <a:t>внедрение кода. </a:t>
            </a:r>
            <a:r>
              <a:rPr lang="en-US" baseline="0" dirty="0" smtClean="0"/>
              <a:t>XSS</a:t>
            </a:r>
            <a:r>
              <a:rPr lang="ru-RU" baseline="0" dirty="0" smtClean="0"/>
              <a:t> и т.п. </a:t>
            </a:r>
          </a:p>
          <a:p>
            <a:r>
              <a:rPr lang="ru-RU" baseline="0" dirty="0" smtClean="0"/>
              <a:t>Процесс настройки </a:t>
            </a:r>
            <a:r>
              <a:rPr lang="en-US" baseline="0" dirty="0" smtClean="0"/>
              <a:t>WAF </a:t>
            </a:r>
            <a:r>
              <a:rPr lang="ru-RU" baseline="0" dirty="0" smtClean="0"/>
              <a:t>долгий и требует специфических знаний, но позволяет нивелировать угрозы и уязвимости веб-серверов.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343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</a:t>
            </a:r>
            <a:r>
              <a:rPr lang="ru-RU" baseline="0" dirty="0" smtClean="0"/>
              <a:t> основном используется защита от </a:t>
            </a:r>
            <a:r>
              <a:rPr lang="en-US" baseline="0" dirty="0" smtClean="0"/>
              <a:t>DDoS </a:t>
            </a:r>
            <a:r>
              <a:rPr lang="ru-RU" baseline="0" dirty="0" smtClean="0"/>
              <a:t>как услуга от провайдера интернета. </a:t>
            </a:r>
          </a:p>
          <a:p>
            <a:r>
              <a:rPr lang="ru-RU" baseline="0" dirty="0" smtClean="0"/>
              <a:t>В случае </a:t>
            </a:r>
            <a:r>
              <a:rPr lang="en-US" baseline="0" dirty="0" smtClean="0"/>
              <a:t>DDoS</a:t>
            </a:r>
            <a:r>
              <a:rPr lang="ru-RU" baseline="0" dirty="0" smtClean="0"/>
              <a:t>-атаки на веб-ресурсы организации происходит перенаправление трафика на станции очистки трафика провайдера и отфильтровывается паразитный трафик, нормальный трафик поступает на ресурсы организации. </a:t>
            </a:r>
          </a:p>
          <a:p>
            <a:r>
              <a:rPr lang="ru-RU" baseline="0" dirty="0" smtClean="0"/>
              <a:t>Существует включение очистки трафика как в ручном режиме (когда сотрудник организации самостоятельно говорит, когда нужно отправлять трафик на очистку) , а также автоматический режим – когда </a:t>
            </a:r>
            <a:r>
              <a:rPr lang="ru-RU" baseline="0" dirty="0" smtClean="0"/>
              <a:t>очистка </a:t>
            </a:r>
            <a:r>
              <a:rPr lang="ru-RU" baseline="0" dirty="0" smtClean="0"/>
              <a:t>включается автоматически при достижении определённого порога кол-ва поступающего трафика.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607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Это как раз бумажная безопасность .</a:t>
            </a:r>
          </a:p>
          <a:p>
            <a:r>
              <a:rPr lang="ru-RU" dirty="0" smtClean="0"/>
              <a:t>Разработка, актуализация всяких документов в организации. Для работы с документами необходим определённый склад характера. Подойдёт не всем.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784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Множество процессов ИБ. Которые делают</a:t>
            </a:r>
            <a:r>
              <a:rPr lang="ru-RU" baseline="0" dirty="0" smtClean="0"/>
              <a:t> сотрудники не сложные, но долгие по времени и однотипные. Такие процессы </a:t>
            </a:r>
            <a:r>
              <a:rPr lang="ru-RU" baseline="0" dirty="0" smtClean="0"/>
              <a:t>могут </a:t>
            </a:r>
            <a:r>
              <a:rPr lang="ru-RU" baseline="0" dirty="0" smtClean="0"/>
              <a:t>быть автоматизированы – что позволит </a:t>
            </a:r>
            <a:r>
              <a:rPr lang="ru-RU" baseline="0" dirty="0" smtClean="0"/>
              <a:t>сэкономить </a:t>
            </a:r>
            <a:r>
              <a:rPr lang="ru-RU" baseline="0" dirty="0" smtClean="0"/>
              <a:t>время и нервы </a:t>
            </a:r>
            <a:r>
              <a:rPr lang="ru-RU" baseline="0" dirty="0" err="1" smtClean="0"/>
              <a:t>ибешников</a:t>
            </a:r>
            <a:r>
              <a:rPr lang="ru-RU" baseline="0" dirty="0" smtClean="0"/>
              <a:t>. Многие сервисы имеют собственные </a:t>
            </a:r>
            <a:r>
              <a:rPr lang="en-US" baseline="0" dirty="0" err="1" smtClean="0"/>
              <a:t>api</a:t>
            </a:r>
            <a:r>
              <a:rPr lang="ru-RU" baseline="0" dirty="0" smtClean="0"/>
              <a:t>, с которыми легче работать с помощью скриптов. Хорошим решением является продукт </a:t>
            </a:r>
            <a:r>
              <a:rPr lang="en-US" baseline="0" dirty="0" smtClean="0"/>
              <a:t>Apache airflow</a:t>
            </a:r>
            <a:r>
              <a:rPr lang="ru-RU" baseline="0" dirty="0" smtClean="0"/>
              <a:t>, который позволяет запускать по времени различные скрипты. </a:t>
            </a:r>
          </a:p>
          <a:p>
            <a:r>
              <a:rPr lang="ru-RU" baseline="0" dirty="0" smtClean="0"/>
              <a:t>Да и для собственных нужд </a:t>
            </a:r>
            <a:r>
              <a:rPr lang="ru-RU" baseline="0" dirty="0" err="1" smtClean="0"/>
              <a:t>ибешнику</a:t>
            </a:r>
            <a:r>
              <a:rPr lang="ru-RU" baseline="0" dirty="0" smtClean="0"/>
              <a:t> бывает необходима автоматизация – что-то сравнить, сделать и т.п. Очень удобно знать язык программирования (хоть какой-нибудь), например </a:t>
            </a:r>
            <a:r>
              <a:rPr lang="en-US" baseline="0" dirty="0" smtClean="0"/>
              <a:t>python, </a:t>
            </a:r>
            <a:r>
              <a:rPr lang="en-US" baseline="0" dirty="0" err="1" smtClean="0"/>
              <a:t>powershell</a:t>
            </a:r>
            <a:r>
              <a:rPr lang="en-US" baseline="0" dirty="0" smtClean="0"/>
              <a:t> </a:t>
            </a:r>
            <a:r>
              <a:rPr lang="ru-RU" baseline="0" dirty="0" smtClean="0"/>
              <a:t>(как одни из самых простых) и писать простые скрипты на лету </a:t>
            </a:r>
            <a:r>
              <a:rPr lang="ru-RU" baseline="0" dirty="0" smtClean="0"/>
              <a:t>для </a:t>
            </a:r>
            <a:r>
              <a:rPr lang="ru-RU" baseline="0" dirty="0" smtClean="0"/>
              <a:t>облегчения своей работы.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237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Без проектной деятельности в большой организации не обойтись – закупка </a:t>
            </a:r>
            <a:r>
              <a:rPr lang="ru-RU" dirty="0" err="1" smtClean="0"/>
              <a:t>сзи</a:t>
            </a:r>
            <a:r>
              <a:rPr lang="ru-RU" dirty="0" smtClean="0"/>
              <a:t>, продление лицензий, тестирование. Внедрение новых </a:t>
            </a:r>
            <a:r>
              <a:rPr lang="ru-RU" dirty="0" err="1" smtClean="0"/>
              <a:t>Сзи</a:t>
            </a:r>
            <a:r>
              <a:rPr lang="ru-RU" dirty="0" smtClean="0"/>
              <a:t> и т.п. – это всё проекты и в них необходимо </a:t>
            </a:r>
            <a:r>
              <a:rPr lang="ru-RU" dirty="0" smtClean="0"/>
              <a:t>учувствовать.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8042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Во многих организациях существуют внутренняя техническая поддержка – сервис деск,</a:t>
            </a:r>
            <a:r>
              <a:rPr lang="ru-RU" baseline="0" dirty="0" smtClean="0"/>
              <a:t> в которую обращаются пользователи со всем вопросам 9установить ПО, не работает ПК, открыть доступ до такого-то сервера по такому-то порту такому-то сотруднику. Все вопросы, связанные с обращениями по теме ИБ нужно сортировать. Назначать на нужных сотрудников, обрабатывать, закрывать.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8899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Это огромные пласт</a:t>
            </a:r>
            <a:r>
              <a:rPr lang="ru-RU" baseline="0" dirty="0" smtClean="0"/>
              <a:t> работ: проверяется сложности паролей пользователей, своевременность его смены, удаление УЗ из домена после увольнения пользователей, версии ПО коммутаторов/маршрутизаторов и их </a:t>
            </a:r>
            <a:r>
              <a:rPr lang="ru-RU" baseline="0" dirty="0" err="1" smtClean="0"/>
              <a:t>конфиги</a:t>
            </a:r>
            <a:r>
              <a:rPr lang="ru-RU" baseline="0" dirty="0" smtClean="0"/>
              <a:t>, установка антивируса и своевременность обновления антивирусных баз и т.п. </a:t>
            </a:r>
            <a:r>
              <a:rPr lang="ru-RU" baseline="0" dirty="0" smtClean="0"/>
              <a:t>В общем </a:t>
            </a:r>
            <a:r>
              <a:rPr lang="ru-RU" baseline="0" dirty="0" smtClean="0"/>
              <a:t>всё, что прописано в </a:t>
            </a:r>
            <a:r>
              <a:rPr lang="ru-RU" baseline="0" dirty="0" smtClean="0"/>
              <a:t>регламентах/политиках </a:t>
            </a:r>
            <a:r>
              <a:rPr lang="ru-RU" baseline="0" dirty="0" smtClean="0"/>
              <a:t>организации. Проверять в ручную огромные массивы данных, заходить на все сетевые устройства и смотреть версии и </a:t>
            </a:r>
            <a:r>
              <a:rPr lang="ru-RU" baseline="0" dirty="0" err="1" smtClean="0"/>
              <a:t>конфиги</a:t>
            </a:r>
            <a:r>
              <a:rPr lang="ru-RU" baseline="0" dirty="0" smtClean="0"/>
              <a:t> – это очень проблематично и практически не реально (т.к. таких устройств бывают сотни и тысячи  и расположены они в </a:t>
            </a:r>
            <a:r>
              <a:rPr lang="ru-RU" baseline="0" dirty="0" smtClean="0"/>
              <a:t>разных </a:t>
            </a:r>
            <a:r>
              <a:rPr lang="ru-RU" baseline="0" dirty="0" smtClean="0"/>
              <a:t>филиалах и у каждого есть свой логин/пароль). Для контроля сетевых устройств появляется ПО, с помощью которого можно смотреть и версии и </a:t>
            </a:r>
            <a:r>
              <a:rPr lang="ru-RU" baseline="0" dirty="0" err="1" smtClean="0"/>
              <a:t>конфиги</a:t>
            </a:r>
            <a:r>
              <a:rPr lang="ru-RU" baseline="0" dirty="0" smtClean="0"/>
              <a:t>, что </a:t>
            </a:r>
            <a:r>
              <a:rPr lang="ru-RU" baseline="0" dirty="0" smtClean="0"/>
              <a:t>значительно </a:t>
            </a:r>
            <a:r>
              <a:rPr lang="ru-RU" baseline="0" dirty="0" smtClean="0"/>
              <a:t>упрощает проведение проверок. По всем остальным проверкам придумываются различные скрипты, которые в </a:t>
            </a:r>
            <a:r>
              <a:rPr lang="ru-RU" baseline="0" dirty="0" smtClean="0"/>
              <a:t>автоматическом </a:t>
            </a:r>
            <a:r>
              <a:rPr lang="ru-RU" baseline="0" dirty="0" smtClean="0"/>
              <a:t>режиме что-то проверяют.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82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Ко всем организациям рано или поздно приходя регуляторы в области ИБ с проверками – это ФСТЭК (техническая защита информации, </a:t>
            </a:r>
            <a:r>
              <a:rPr lang="ru-RU" dirty="0" err="1" smtClean="0"/>
              <a:t>ПДн</a:t>
            </a:r>
            <a:r>
              <a:rPr lang="ru-RU" dirty="0" smtClean="0"/>
              <a:t>, </a:t>
            </a:r>
            <a:r>
              <a:rPr lang="ru-RU" dirty="0" err="1" smtClean="0"/>
              <a:t>конфи</a:t>
            </a:r>
            <a:r>
              <a:rPr lang="ru-RU" dirty="0" smtClean="0"/>
              <a:t>), ФСБ (криптография</a:t>
            </a:r>
            <a:r>
              <a:rPr lang="ru-RU" baseline="0" dirty="0" smtClean="0"/>
              <a:t> и шифрование)</a:t>
            </a:r>
            <a:r>
              <a:rPr lang="ru-RU" dirty="0" smtClean="0"/>
              <a:t>, </a:t>
            </a:r>
            <a:r>
              <a:rPr lang="ru-RU" dirty="0" err="1" smtClean="0"/>
              <a:t>Роскомнадзор</a:t>
            </a:r>
            <a:r>
              <a:rPr lang="ru-RU" dirty="0" smtClean="0"/>
              <a:t> (неавтоматизированная обработка</a:t>
            </a:r>
            <a:r>
              <a:rPr lang="ru-RU" baseline="0" dirty="0" smtClean="0"/>
              <a:t> </a:t>
            </a:r>
            <a:r>
              <a:rPr lang="ru-RU" baseline="0" dirty="0" err="1" smtClean="0"/>
              <a:t>ПДн</a:t>
            </a:r>
            <a:r>
              <a:rPr lang="ru-RU" dirty="0" smtClean="0"/>
              <a:t>), Центральный банк (для кредитных</a:t>
            </a:r>
            <a:r>
              <a:rPr lang="ru-RU" baseline="0" dirty="0" smtClean="0"/>
              <a:t> организаций и банков). С ними нужно общаться, дружить, соблюдать их требования. </a:t>
            </a:r>
          </a:p>
          <a:p>
            <a:r>
              <a:rPr lang="ru-RU" baseline="0" dirty="0" smtClean="0"/>
              <a:t>Также нередко организации, работающие с ИБ должны обладать разными лицензиями – по ТЗКИ, лицензиями по шифрованию/криптографии. Для получения и поддержания в актуальном состоянии таких лицензий необходимо также проделывать большую работу и общаться с регуляторами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2806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Все руководители любят отчётность – сколько</a:t>
            </a:r>
            <a:r>
              <a:rPr lang="ru-RU" baseline="0" dirty="0" smtClean="0"/>
              <a:t> сделано, что улучшилось, сколько атак отразили, сколько вирусов поймали. Сколько </a:t>
            </a:r>
            <a:r>
              <a:rPr lang="ru-RU" baseline="0" dirty="0" err="1" smtClean="0"/>
              <a:t>фишинга</a:t>
            </a:r>
            <a:r>
              <a:rPr lang="ru-RU" baseline="0" dirty="0" smtClean="0"/>
              <a:t> было. Также отчётность </a:t>
            </a:r>
            <a:r>
              <a:rPr lang="ru-RU" baseline="0" dirty="0" smtClean="0"/>
              <a:t>является </a:t>
            </a:r>
            <a:r>
              <a:rPr lang="ru-RU" baseline="0" dirty="0" smtClean="0"/>
              <a:t>отражением работы </a:t>
            </a:r>
            <a:r>
              <a:rPr lang="ru-RU" baseline="0" dirty="0" err="1" smtClean="0"/>
              <a:t>ибешников</a:t>
            </a:r>
            <a:r>
              <a:rPr lang="ru-RU" baseline="0" dirty="0" smtClean="0"/>
              <a:t> – ведь </a:t>
            </a:r>
            <a:r>
              <a:rPr lang="ru-RU" baseline="0" dirty="0" smtClean="0"/>
              <a:t>подразделение </a:t>
            </a:r>
            <a:r>
              <a:rPr lang="ru-RU" baseline="0" dirty="0" smtClean="0"/>
              <a:t>ИБ не приносит прибыли (если это не профильная </a:t>
            </a:r>
            <a:r>
              <a:rPr lang="ru-RU" baseline="0" dirty="0" smtClean="0"/>
              <a:t>организация </a:t>
            </a:r>
            <a:r>
              <a:rPr lang="ru-RU" baseline="0" dirty="0" smtClean="0"/>
              <a:t>по ИБ) и посчитать </a:t>
            </a:r>
            <a:r>
              <a:rPr lang="ru-RU" baseline="0" dirty="0" smtClean="0"/>
              <a:t>экономическую обоснованность </a:t>
            </a:r>
            <a:r>
              <a:rPr lang="ru-RU" baseline="0" dirty="0" smtClean="0"/>
              <a:t>существования такого подразделения довольно трудно.  </a:t>
            </a:r>
          </a:p>
          <a:p>
            <a:r>
              <a:rPr lang="ru-RU" baseline="0" dirty="0" smtClean="0"/>
              <a:t>Бывает отчётность ежедневная, еженедельная, ежемесячная, ежеквартальная, годовая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9933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Последним в списке, но одним из первых по значимости является команда (в больших организациях штат </a:t>
            </a:r>
            <a:r>
              <a:rPr lang="ru-RU" baseline="0" dirty="0" err="1" smtClean="0"/>
              <a:t>иб</a:t>
            </a:r>
            <a:r>
              <a:rPr lang="ru-RU" baseline="0" dirty="0" smtClean="0"/>
              <a:t> от 10 до 40 и больше человек), т.к. собрать хорошую команду, которая будет не только профессиональна, но и дружна между собой – это сложно, но ещё сложнее удержать команду. Каждому хочется карьерного роста, получать больше денег с ростом опыта и умений, новых и интересных задач. Если </a:t>
            </a:r>
            <a:r>
              <a:rPr lang="ru-RU" baseline="0" dirty="0" smtClean="0"/>
              <a:t>руководитель </a:t>
            </a:r>
            <a:r>
              <a:rPr lang="ru-RU" baseline="0" dirty="0" smtClean="0"/>
              <a:t>грамотный и руководство организации заинтересовано в обеспечении ИБ – команду удастся сохранить и безопасность такой организации будет на высоте. 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9DA29-E55D-41B1-8F79-CD08AE5A6BAB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635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66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07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327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716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45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04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22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277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119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63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07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4E326-AAC5-468E-941C-138F4E7A9CC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3010F-E90E-4545-BEF2-7EC2C167E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14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2564904"/>
            <a:ext cx="7772400" cy="1470025"/>
          </a:xfrm>
        </p:spPr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ИБ на крупном предприятии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93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Какая бывает ИБ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9872" y="2564904"/>
            <a:ext cx="2520280" cy="37338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Реальная</a:t>
            </a:r>
          </a:p>
          <a:p>
            <a:pPr marL="0" indent="0" algn="ctr">
              <a:buNone/>
            </a:pPr>
            <a:endParaRPr lang="ru-RU" sz="1600" dirty="0" smtClean="0"/>
          </a:p>
          <a:p>
            <a:pPr marL="0" indent="0" algn="ctr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Помогает защититься от реальных атак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6092552" y="2564904"/>
            <a:ext cx="2871936" cy="37338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«Для галочки»</a:t>
            </a:r>
          </a:p>
          <a:p>
            <a:pPr marL="0" indent="0" algn="ctr">
              <a:buNone/>
            </a:pP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соответствия требованиям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551740" y="2564904"/>
            <a:ext cx="2520280" cy="373387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соответствия требованиям:</a:t>
            </a:r>
          </a:p>
          <a:p>
            <a:pPr marL="0" indent="0" algn="ctr">
              <a:buNone/>
            </a:pP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ИСПДн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ГИС</a:t>
            </a:r>
          </a:p>
          <a:p>
            <a:pPr marL="0" indent="0" algn="ctr">
              <a:buNone/>
            </a:pP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Конфиденциалка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Банковские стандарты</a:t>
            </a:r>
          </a:p>
          <a:p>
            <a:pPr marL="0" indent="0" algn="ctr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т.п.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3358270" y="1772815"/>
            <a:ext cx="5318185" cy="5760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544921" y="1772815"/>
            <a:ext cx="2527100" cy="5760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Бумажная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19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 чего же состоит ИБ на большом предприятии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042792" cy="4525963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Межсетевое экранирование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обнаружения вторжения 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Антивирус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Песочница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УЦ и криптография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Защищённый удалённый доступ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уязвимостей и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патчинг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DLP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доступа привилегированных пользователей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исходного кода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OSINT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4860032" y="1628800"/>
            <a:ext cx="4042792" cy="4525963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сотрудников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на проникновение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веб-приложений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от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ЛНА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процессов ИБ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Проектная деятельность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обращений пользователей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Проверки на соответствия требованиям документов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регуляторами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Отчётность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77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Межсетевое экранирование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4" name="Picture 2" descr="C:\Users\Иринка\Desktop\мэ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7776864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95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обнаружения вторжения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3" name="Picture 3" descr="C:\Users\Иринка\Desktop\id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2"/>
            <a:ext cx="8064895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28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Антивирус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1872207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антивирусы бывают:</a:t>
            </a: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Хостовые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серверные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Потоковые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Почтовые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C:\Users\Иринка\Desktop\антивирус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212976"/>
            <a:ext cx="8136904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88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Песочница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 descr="C:\Users\Иринка\Desktop\Песочницы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8208912" cy="565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45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Удостоверяющий центр и криптография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959594"/>
              </p:ext>
            </p:extLst>
          </p:nvPr>
        </p:nvGraphicFramePr>
        <p:xfrm>
          <a:off x="755576" y="1772816"/>
          <a:ext cx="7848872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Удостоверяющий центр</a:t>
                      </a:r>
                    </a:p>
                    <a:p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сертификаты для входа в ОС и другие системы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сертификаты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для защищённого удалённого доступа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сертификаты для документооборота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закрытый/открытый ключ для шифрования писем</a:t>
                      </a:r>
                    </a:p>
                    <a:p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Криптография</a:t>
                      </a:r>
                    </a:p>
                    <a:p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криптопровайдеры</a:t>
                      </a:r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шифрованные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диски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шифрованные внешние носители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80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Защищённый удалённый доступ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C:\Users\Иринка\Desktop\зуд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43024"/>
            <a:ext cx="7886700" cy="453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04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уязвимостей и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патчинг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227187"/>
              </p:ext>
            </p:extLst>
          </p:nvPr>
        </p:nvGraphicFramePr>
        <p:xfrm>
          <a:off x="755576" y="1397000"/>
          <a:ext cx="777686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уязвимостей</a:t>
                      </a:r>
                    </a:p>
                    <a:p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регулярно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сканирование всех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устройств в сети организации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запрет на сканирование в определённые промежутки времени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сканирование 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сервисов, опубликованных в интернете и внутри сети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OpenVAS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Устранение найденных уязвимостей </a:t>
                      </a:r>
                    </a:p>
                    <a:p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большие периоды времени на закрытие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уязвимостей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тестирование обновлений на тестовых серверах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компромисы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между ИТ и ИБ</a:t>
                      </a:r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06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DLP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(система предотвращение утечки информации)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C:\Users\Иринка\Desktop\dl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8800"/>
            <a:ext cx="8496944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1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(Центр обеспечения безопасности)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C:\Users\Иринка\Desktop\SO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4784"/>
            <a:ext cx="8280920" cy="478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95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1143000"/>
          </a:xfrm>
        </p:spPr>
        <p:txBody>
          <a:bodyPr>
            <a:noAutofit/>
          </a:bodyPr>
          <a:lstStyle/>
          <a:p>
            <a:r>
              <a:rPr lang="ru-RU" sz="3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привилегированных пользователей</a:t>
            </a:r>
            <a:endParaRPr lang="ru-RU" sz="3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C:\Users\Иринка\Desktop\скдпп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8496944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78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исходного кода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091115"/>
              </p:ext>
            </p:extLst>
          </p:nvPr>
        </p:nvGraphicFramePr>
        <p:xfrm>
          <a:off x="755576" y="1397000"/>
          <a:ext cx="763284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Статический анализ</a:t>
                      </a:r>
                    </a:p>
                    <a:p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не запускается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позволяет выявить ошибки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 в использовании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бывают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ложные срабатывания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позволяет выявить некоторые уязвимости</a:t>
                      </a:r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Динамический анализ</a:t>
                      </a:r>
                    </a:p>
                    <a:p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исследование ПО при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его выполнении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сложен в эксплуатации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позволяет выявить все уязвимости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практически исключены ложные срабатывания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18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OSINT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447830"/>
              </p:ext>
            </p:extLst>
          </p:nvPr>
        </p:nvGraphicFramePr>
        <p:xfrm>
          <a:off x="683568" y="1412776"/>
          <a:ext cx="806489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чувствительной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документации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утечек паролей от корпоративных УЗ и почты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похожих доменов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информация о готовящихся взломах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dorks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мамонт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maltego</a:t>
                      </a:r>
                      <a:endParaRPr lang="en-US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theHarvester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458" name="Picture 2" descr="C:\Users\Иринка\Desktop\щыште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429000"/>
            <a:ext cx="8208912" cy="290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61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сотрудников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389634"/>
              </p:ext>
            </p:extLst>
          </p:nvPr>
        </p:nvGraphicFramePr>
        <p:xfrm>
          <a:off x="611560" y="1196752"/>
          <a:ext cx="7920880" cy="212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0488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Сотрудников организации</a:t>
                      </a:r>
                    </a:p>
                    <a:p>
                      <a:pPr algn="ctr"/>
                      <a:endParaRPr lang="ru-RU" sz="20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новых сотрудников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существующих сотрудников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антифишинговые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тренировки (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gophish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Сотрудников ИБ организации</a:t>
                      </a:r>
                    </a:p>
                    <a:p>
                      <a:pPr algn="ctr"/>
                      <a:endParaRPr lang="ru-RU" sz="20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классические курсы, семинары, </a:t>
                      </a:r>
                      <a:r>
                        <a:rPr lang="ru-RU" sz="20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вебинары</a:t>
                      </a:r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учебный полигон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146" name="Picture 2" descr="C:\Users\Иринка\Desktop\обучение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212976"/>
            <a:ext cx="8280920" cy="306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90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на проникновение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194643"/>
              </p:ext>
            </p:extLst>
          </p:nvPr>
        </p:nvGraphicFramePr>
        <p:xfrm>
          <a:off x="899592" y="1397000"/>
          <a:ext cx="7632848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999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Классический</a:t>
                      </a:r>
                      <a:r>
                        <a:rPr lang="ru-RU" sz="2000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Pentest</a:t>
                      </a:r>
                      <a:endParaRPr lang="ru-RU" sz="2000" b="1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ru-RU" sz="2000" b="1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известно откуда будут атаковать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чем будут атаковать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когда будут атаковать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000" b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Redteam</a:t>
                      </a:r>
                      <a:endParaRPr lang="ru-RU" sz="20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ru-RU" sz="20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неизвестно как и когда будут атаковать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будут атаковать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активное противодействие со стороны 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blueteam</a:t>
                      </a:r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возможно эмулирование действий и техник известной группировки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социальной инженерии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(вплоть до физического проникновения на объекты)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78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веб-приложений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C:\Users\Иринка\Desktop\waf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8424936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3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от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C:\Users\Иринка\Desktop\dd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681162"/>
            <a:ext cx="8191500" cy="434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41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ЛНА (документы)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:\Users\Иринка\Desktop\документы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" y="2564904"/>
            <a:ext cx="7900416" cy="349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18772"/>
              </p:ext>
            </p:extLst>
          </p:nvPr>
        </p:nvGraphicFramePr>
        <p:xfrm>
          <a:off x="621792" y="1397000"/>
          <a:ext cx="790041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регламенты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инструкции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политики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приказы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положения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акты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99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процессов ИБ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 descr="C:\Users\Иринка\Desktop\geektechstuff_python_webscrapper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8496943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9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Проектная деятельность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C:\Users\Иринка\Desktop\проекты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852936"/>
            <a:ext cx="7848872" cy="355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210686"/>
              </p:ext>
            </p:extLst>
          </p:nvPr>
        </p:nvGraphicFramePr>
        <p:xfrm>
          <a:off x="827584" y="1397000"/>
          <a:ext cx="784887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8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закупка ПО и лицензий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закупка сервисов и услуг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пилотные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проекты по тестированию новых решений</a:t>
                      </a:r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внедрение новых решений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74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обращений пользователей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:\Users\Иринка\Desktop\service desk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09750"/>
            <a:ext cx="7620000" cy="377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51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на соответствие требованиям документов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284777"/>
              </p:ext>
            </p:extLst>
          </p:nvPr>
        </p:nvGraphicFramePr>
        <p:xfrm>
          <a:off x="755576" y="1700808"/>
          <a:ext cx="7632848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парольная политика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 удаления УЗ после увольнения сотрудников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установленного антивируса и актуальности антивирусных баз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версий ПО коммутаторов/роутеров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конфигов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коммутаторов/роутеров/МЭ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правильность настройки внешних </a:t>
                      </a:r>
                      <a:r>
                        <a:rPr lang="en-US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DNS</a:t>
                      </a:r>
                      <a:endParaRPr lang="ru-RU" sz="2000" b="0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</a:t>
                      </a:r>
                      <a:r>
                        <a:rPr lang="ru-RU" sz="2000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расшаренных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папок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открытых </a:t>
                      </a:r>
                      <a:r>
                        <a:rPr lang="en-US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FTP</a:t>
                      </a:r>
                      <a:endParaRPr lang="ru-RU" sz="2000" b="0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35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регуляторами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 descr="C:\Users\Иринка\Desktop\регуляторы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2776"/>
            <a:ext cx="8496944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39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Отчётность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Иринка\Desktop\отчётность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84984"/>
            <a:ext cx="8136904" cy="286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351036"/>
              </p:ext>
            </p:extLst>
          </p:nvPr>
        </p:nvGraphicFramePr>
        <p:xfrm>
          <a:off x="683568" y="1412776"/>
          <a:ext cx="7848872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413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атак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вирусных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сработок</a:t>
                      </a:r>
                      <a:endParaRPr lang="ru-RU" sz="2000" b="0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</a:t>
                      </a:r>
                      <a:r>
                        <a:rPr lang="ru-RU" sz="2000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фишинговых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писем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выявленных инцидентов ИБ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закрытых уязвимостей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результаты 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OSINT</a:t>
                      </a:r>
                      <a:endParaRPr lang="ru-RU" sz="20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ru-RU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21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итоге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74868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Самое главное – это команда</a:t>
            </a:r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 descr="C:\Users\Иринка\Desktop\команда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44824"/>
            <a:ext cx="7488832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34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780928"/>
            <a:ext cx="8229600" cy="1143000"/>
          </a:xfrm>
        </p:spPr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1982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3799</Words>
  <Application>Microsoft Office PowerPoint</Application>
  <PresentationFormat>Экран (4:3)</PresentationFormat>
  <Paragraphs>268</Paragraphs>
  <Slides>28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Тема Office</vt:lpstr>
      <vt:lpstr>Особенности ИБ на крупном предприятии</vt:lpstr>
      <vt:lpstr>Какая бывает ИБ</vt:lpstr>
      <vt:lpstr>Из чего же состоит ИБ на большом предприятии</vt:lpstr>
      <vt:lpstr>Межсетевое экранирование</vt:lpstr>
      <vt:lpstr>Система обнаружения вторжения</vt:lpstr>
      <vt:lpstr>Антивирус</vt:lpstr>
      <vt:lpstr>Песочница</vt:lpstr>
      <vt:lpstr>Удостоверяющий центр и криптография</vt:lpstr>
      <vt:lpstr>Защищённый удалённый доступ</vt:lpstr>
      <vt:lpstr>Поиск уязвимостей и патчинг</vt:lpstr>
      <vt:lpstr>DLP (система предотвращение утечки информации)</vt:lpstr>
      <vt:lpstr>SOC (Центр обеспечения безопасности)</vt:lpstr>
      <vt:lpstr>Система контроля привилегированных пользователей</vt:lpstr>
      <vt:lpstr>Проверка исходного кода</vt:lpstr>
      <vt:lpstr>OSINT</vt:lpstr>
      <vt:lpstr>Обучение сотрудников</vt:lpstr>
      <vt:lpstr>Тестирование на проникновение</vt:lpstr>
      <vt:lpstr>Защита веб-приложений</vt:lpstr>
      <vt:lpstr>Защита от DDoS</vt:lpstr>
      <vt:lpstr>ЛНА (документы)</vt:lpstr>
      <vt:lpstr>Автоматизация процессов ИБ</vt:lpstr>
      <vt:lpstr>Проектная деятельность</vt:lpstr>
      <vt:lpstr>Обработка обращений пользователей</vt:lpstr>
      <vt:lpstr>Проверка на соответствие требованиям документов</vt:lpstr>
      <vt:lpstr>Работа с регуляторами</vt:lpstr>
      <vt:lpstr>Отчётность</vt:lpstr>
      <vt:lpstr>В итоге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Особенности ИБ на крупном предприятии</dc:title>
  <dc:creator>Иринка</dc:creator>
  <cp:lastModifiedBy>Яшкин Алексей Владимирович</cp:lastModifiedBy>
  <cp:revision>117</cp:revision>
  <dcterms:created xsi:type="dcterms:W3CDTF">2021-11-23T05:38:01Z</dcterms:created>
  <dcterms:modified xsi:type="dcterms:W3CDTF">2021-11-24T07:28:13Z</dcterms:modified>
</cp:coreProperties>
</file>